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097280"/>
            <a:ext cx="3566160" cy="2377440"/>
          </a:xfrm>
          <a:prstGeom prst="rect">
            <a:avLst/>
          </a:prstGeom>
          <a:solidFill>
            <a:srgbClr val="0A0D0E"/>
          </a:solidFill>
          <a:ln w="12700">
            <a:solidFill>
              <a:srgbClr val="1C25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1325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|  GIT, GITHUB &amp; EXCEL ORIENTATION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First Repository to Your First Commit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Vidyaavati Mukund Lal Girls College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Shubham Sharma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OPENING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going to do today?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 minutes, mostly hands-on.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502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502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Git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0881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088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GitHub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673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673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0" y="1764792"/>
            <a:ext cx="1188720" cy="27432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764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258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258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repository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0" y="2350008"/>
            <a:ext cx="1188720" cy="27432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350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843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8437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basic commands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first commit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98080" y="3520440"/>
            <a:ext cx="1188720" cy="27432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014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Excel orientation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ever created this?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420624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project.xlsx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188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719072"/>
            <a:ext cx="5394960" cy="420624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1907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project_final.xlsx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7190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surely final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249424"/>
            <a:ext cx="5394960" cy="420624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24942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project_final_v2.xlsx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2494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okay, v2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779776"/>
            <a:ext cx="5394960" cy="420624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277977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project_final_latest.xlsx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7797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3310128"/>
            <a:ext cx="5394960" cy="420624"/>
          </a:xfrm>
          <a:prstGeom prst="rect">
            <a:avLst/>
          </a:prstGeom>
          <a:solidFill>
            <a:srgbClr val="111517"/>
          </a:solidFill>
          <a:ln w="19050">
            <a:solidFill>
              <a:srgbClr val="14A8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331012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project_final_latest_REAL.xlsx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3101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THIS one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is actually the final version?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isn’t saving multiple copies of a file enough?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VERSION CONTROL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version control?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records changes to files over time, so you can track, compare and restore different versions.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64008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2331720"/>
            <a:ext cx="1828800" cy="64008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1828800" cy="64008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66560" y="2331720"/>
            <a:ext cx="1828800" cy="640080"/>
          </a:xfrm>
          <a:prstGeom prst="rect">
            <a:avLst/>
          </a:prstGeom>
          <a:solidFill>
            <a:srgbClr val="14A8A3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  ·  Recover earlier versions  ·  Collaborate  ·  See who changed what  ·  Work safely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version control solve?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GIT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= version control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runs on your computer.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188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42062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810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versions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80560" y="2359152"/>
            <a:ext cx="42062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4323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changes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80560" y="2980944"/>
            <a:ext cx="42062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30540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80560" y="3602736"/>
            <a:ext cx="4206240" cy="0"/>
          </a:xfrm>
          <a:prstGeom prst="line">
            <a:avLst/>
          </a:prstGeom>
          <a:noFill/>
          <a:ln w="12700">
            <a:solidFill>
              <a:srgbClr val="D5DD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36758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on projects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think Git needs the internet to work?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GITHUB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= a platform built around Git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103120" cy="1005840"/>
          </a:xfrm>
          <a:prstGeom prst="rect">
            <a:avLst/>
          </a:prstGeom>
          <a:solidFill>
            <a:srgbClr val="1C2528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computer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600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103120" cy="1005840"/>
          </a:xfrm>
          <a:prstGeom prst="rect">
            <a:avLst/>
          </a:prstGeom>
          <a:solidFill>
            <a:srgbClr val="0B6B6F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463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versions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600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103120" cy="1005840"/>
          </a:xfrm>
          <a:prstGeom prst="rect">
            <a:avLst/>
          </a:prstGeom>
          <a:solidFill>
            <a:srgbClr val="14A8A3"/>
          </a:solidFill>
          <a:ln w="15875">
            <a:solidFill>
              <a:srgbClr val="14A8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63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home for Git repositories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 ·  Shared  ·  Collaborated on  ·  Reviewed  ·  Managed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does not need GitHub. GitHub is one place to host Git repositories.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Git without GitHub?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|  GIT VS GITHUB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vs GitHub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software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platform /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your computer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online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changes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and shares repositories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line or GUI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interface + collaboration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work offline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Mainly online collaboration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03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≠ GitHub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can exist without GitHub.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words: Git vs GitHub?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|  WHY IT MATTERS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a data analyst care?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analyst may work with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scripts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notebooks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can become a professional portfolio and collaboration platform.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show your work. Not a hiring guarantee.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1463040" cy="45720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611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30552" y="3611880"/>
            <a:ext cx="1463040" cy="45720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611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3611880"/>
            <a:ext cx="1463040" cy="45720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03904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3611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77256" y="3611880"/>
            <a:ext cx="1463040" cy="45720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77256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0296" y="3611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50608" y="3611880"/>
            <a:ext cx="1463040" cy="45720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0608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future files would you want to track?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|  GITHUB ACCOUNT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create your GitHub account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github.com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up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email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60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username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560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account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560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profile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username you would be comfortable sharing with a future employer.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here until everyone has an account.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 |  REPOSITORY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repository?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space where files, folders and their version history are managed.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≈ project workspace + version history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analogy, not a strict definition.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3108960"/>
          </a:xfrm>
          <a:prstGeom prst="rect">
            <a:avLst/>
          </a:prstGeom>
          <a:solidFill>
            <a:srgbClr val="0A0D0E"/>
          </a:solidFill>
          <a:ln w="12700">
            <a:solidFill>
              <a:srgbClr val="0A0D0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258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data-analytics-learning/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python/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excel/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sql/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version history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files from your own work belong in a repository?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 |  CREATE A REPOSITORY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GitHub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276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repository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665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repository name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5054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description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Public or Private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3832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Add a README file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329184" cy="32918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8221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repository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0" y="1188720"/>
            <a:ext cx="3200400" cy="310896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12984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1554480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0" y="1554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data-analytics-learning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2011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2267712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22677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Data Analytics journey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2724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 |   Private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Add a README file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0" y="3794760"/>
            <a:ext cx="2834640" cy="347472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0" y="3794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data-analytics-learning, or another simple name.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 |  INSIDE A REPOSITORY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your-username / data-analytics-learning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4846320" cy="384048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40864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340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4846320" cy="86868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64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data-analytics-learning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57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Data Analytics journey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" y="1764792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" y="1764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74520" y="1764792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74520" y="1764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" y="2359152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" y="2834640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50408" y="2359152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50408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" y="3611880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 and folders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1709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of work (we use main)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22311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in the project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2752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history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3273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introduction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12648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discussion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Commits link in your own repository.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 |  THE GIT WORKFLOW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108960" cy="530352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09728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create and edit files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56816"/>
            <a:ext cx="3108960" cy="530352"/>
          </a:xfrm>
          <a:prstGeom prst="rect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5681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Area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95681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picked for the next commit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3108960" cy="530352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1635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Repository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81635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saved on your computer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75888"/>
            <a:ext cx="3108960" cy="530352"/>
          </a:xfrm>
          <a:prstGeom prst="rect">
            <a:avLst/>
          </a:prstGeom>
          <a:solidFill>
            <a:srgbClr val="0B6B6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6758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67588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copy for sharing and backup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162763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16276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1627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changes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487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24871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34670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33467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git add does?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 |  BASIC GIT COMMANDS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Git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solidFill>
            <a:srgbClr val="0A0D0E"/>
          </a:solidFill>
          <a:ln w="12700">
            <a:solidFill>
              <a:srgbClr val="1C25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Tell Git who you are (one-time setup)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"your@email.com"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Check what is happening, any time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Start tracking this folder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Pick changes for the next commit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B4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Save a snapshot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Git is installed: run git --version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 |  COMMIT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 = a saved snapshot of your changes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 and lines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842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3405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made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838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description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1234440"/>
            <a:ext cx="4663440" cy="77724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234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"Added student dataset"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28600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messages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student dataset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missing values in sales column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   changes    asdf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message helps your future self: “final” or “Added student dataset”?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 |  PUSH AND PULL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and pull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local commits to GitHub.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1645920" cy="86868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94960" y="1554480"/>
            <a:ext cx="1097280" cy="502920"/>
          </a:xfrm>
          <a:prstGeom prst="rightArrow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371600"/>
            <a:ext cx="1645920" cy="86868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changes from GitHub to your computer.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0" y="2880360"/>
            <a:ext cx="1645920" cy="86868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94960" y="3063240"/>
            <a:ext cx="1097280" cy="502920"/>
          </a:xfrm>
          <a:prstGeom prst="leftArrow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880360"/>
            <a:ext cx="1645920" cy="86868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direction does push go?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 |  HANDS-ON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Git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78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051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and open a terminal in it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08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Git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114800" cy="384048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1965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hello.txt in a text editor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423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572000" y="2423160"/>
            <a:ext cx="4114800" cy="384048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2423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880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file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4114800" cy="384048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3337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4572000" y="3337560"/>
            <a:ext cx="4114800" cy="384048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3337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"Added hello file"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3822192"/>
            <a:ext cx="329184" cy="329184"/>
          </a:xfrm>
          <a:prstGeom prst="ellipse">
            <a:avLst/>
          </a:prstGeom>
          <a:solidFill>
            <a:srgbClr val="0B6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3794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commit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4572000" y="3794760"/>
            <a:ext cx="4114800" cy="384048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3794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repository lives only on your computer. Pushing comes later.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6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 |  EXCEL ORIENTATION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GIT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EXCEL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Data Analytics is where our journey continues. Excel will be one of your main practical tools for working with data.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0" y="91440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91440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91440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91440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46304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46304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46304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01168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11680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201168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01168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256032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56032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256032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256032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310896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10896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310896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108960"/>
            <a:ext cx="822960" cy="548640"/>
          </a:xfrm>
          <a:prstGeom prst="rect">
            <a:avLst/>
          </a:prstGeom>
          <a:solidFill>
            <a:srgbClr val="0F7C80"/>
          </a:solidFill>
          <a:ln w="9525">
            <a:solidFill>
              <a:srgbClr val="4FB8BB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 |  EXCEL: KNOW YOUR WORKSPACE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workspace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Sales_Analysis.xlsx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   Home    Insert    Formulas    Data    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86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20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202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1920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=SUM(B2:B4)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2194560"/>
            <a:ext cx="853440" cy="256032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194560"/>
            <a:ext cx="85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76400" y="2194560"/>
            <a:ext cx="853440" cy="256032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76400" y="2194560"/>
            <a:ext cx="85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29840" y="2194560"/>
            <a:ext cx="853440" cy="256032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29840" y="2194560"/>
            <a:ext cx="85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194560"/>
            <a:ext cx="853440" cy="256032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2194560"/>
            <a:ext cx="85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36720" y="2194560"/>
            <a:ext cx="853440" cy="256032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36720" y="2194560"/>
            <a:ext cx="85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90160" y="2194560"/>
            <a:ext cx="853440" cy="256032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90160" y="2194560"/>
            <a:ext cx="85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450592"/>
            <a:ext cx="365760" cy="274320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24505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0" y="24505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9840" y="24505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24505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36720" y="24505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0160" y="24505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724912"/>
            <a:ext cx="365760" cy="274320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272491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76400" y="272491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29840" y="272491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272491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36720" y="272491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90160" y="272491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999232"/>
            <a:ext cx="365760" cy="274320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2999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" y="299923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76400" y="299923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29840" y="299923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299923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36720" y="299923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90160" y="299923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273552"/>
            <a:ext cx="365760" cy="274320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2735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22960" y="327355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76400" y="327355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29840" y="327355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83280" y="327355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36720" y="327355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90160" y="3273552"/>
            <a:ext cx="853440" cy="274320"/>
          </a:xfrm>
          <a:prstGeom prst="rect">
            <a:avLst/>
          </a:prstGeom>
          <a:solidFill>
            <a:srgbClr val="D6F1F0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3547872"/>
            <a:ext cx="365760" cy="274320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2960" y="354787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76400" y="3547872"/>
            <a:ext cx="853440" cy="274320"/>
          </a:xfrm>
          <a:prstGeom prst="rect">
            <a:avLst/>
          </a:prstGeom>
          <a:solidFill>
            <a:srgbClr val="14A8A3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29840" y="354787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83280" y="354787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36720" y="354787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90160" y="354787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3822192"/>
            <a:ext cx="365760" cy="274320"/>
          </a:xfrm>
          <a:prstGeom prst="rect">
            <a:avLst/>
          </a:prstGeom>
          <a:solidFill>
            <a:srgbClr val="F2F5F5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38221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22960" y="38221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76400" y="38221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29840" y="38221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38221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36720" y="38221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90160" y="3822192"/>
            <a:ext cx="853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86968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1740408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50" dirty="0"/>
          </a:p>
        </p:txBody>
      </p:sp>
      <p:sp>
        <p:nvSpPr>
          <p:cNvPr id="75" name="Text 73"/>
          <p:cNvSpPr txBox="1"/>
          <p:nvPr/>
        </p:nvSpPr>
        <p:spPr>
          <a:xfrm>
            <a:off x="886968" y="2724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1740408" y="2724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50" dirty="0"/>
          </a:p>
        </p:txBody>
      </p:sp>
      <p:sp>
        <p:nvSpPr>
          <p:cNvPr id="77" name="Text 75"/>
          <p:cNvSpPr txBox="1"/>
          <p:nvPr/>
        </p:nvSpPr>
        <p:spPr>
          <a:xfrm>
            <a:off x="886968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50" dirty="0"/>
          </a:p>
        </p:txBody>
      </p:sp>
      <p:sp>
        <p:nvSpPr>
          <p:cNvPr id="78" name="Text 76"/>
          <p:cNvSpPr txBox="1"/>
          <p:nvPr/>
        </p:nvSpPr>
        <p:spPr>
          <a:xfrm>
            <a:off x="1740408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886968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50" dirty="0"/>
          </a:p>
        </p:txBody>
      </p:sp>
      <p:sp>
        <p:nvSpPr>
          <p:cNvPr id="80" name="Text 78"/>
          <p:cNvSpPr txBox="1"/>
          <p:nvPr/>
        </p:nvSpPr>
        <p:spPr>
          <a:xfrm>
            <a:off x="1740408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1740408" y="3547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solidFill>
            <a:srgbClr val="F2F5F5"/>
          </a:solidFill>
          <a:ln w="12700">
            <a:solidFill>
              <a:srgbClr val="F2F5F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0080" y="4151376"/>
            <a:ext cx="8229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40080" y="41513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Sheet1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1645920" y="41513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2377440" y="41513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824728" y="1115568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824728" y="1115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824728" y="1508760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824728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824728" y="1892808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824728" y="1892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5824728" y="2203704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824728" y="2203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38328" y="3017520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38328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38328" y="4133088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38328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221992" y="3566160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2221992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26280" y="3017520"/>
            <a:ext cx="237744" cy="237744"/>
          </a:xfrm>
          <a:prstGeom prst="ellipse">
            <a:avLst/>
          </a:prstGeom>
          <a:solidFill>
            <a:srgbClr val="1115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52628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6355080" y="10972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Excel file</a:t>
            </a:r>
            <a:endParaRPr lang="en-US" sz="1350" dirty="0"/>
          </a:p>
        </p:txBody>
      </p:sp>
      <p:sp>
        <p:nvSpPr>
          <p:cNvPr id="104" name="Text 102"/>
          <p:cNvSpPr txBox="1"/>
          <p:nvPr/>
        </p:nvSpPr>
        <p:spPr>
          <a:xfrm>
            <a:off x="6355080" y="15087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(tab) inside it</a:t>
            </a:r>
            <a:endParaRPr lang="en-US" sz="1350" dirty="0"/>
          </a:p>
        </p:txBody>
      </p:sp>
      <p:sp>
        <p:nvSpPr>
          <p:cNvPr id="105" name="Text 103"/>
          <p:cNvSpPr txBox="1"/>
          <p:nvPr/>
        </p:nvSpPr>
        <p:spPr>
          <a:xfrm>
            <a:off x="6355080" y="19202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across: 1, 2, 3</a:t>
            </a:r>
            <a:endParaRPr lang="en-US" sz="1350" dirty="0"/>
          </a:p>
        </p:txBody>
      </p:sp>
      <p:sp>
        <p:nvSpPr>
          <p:cNvPr id="106" name="Text 104"/>
          <p:cNvSpPr txBox="1"/>
          <p:nvPr/>
        </p:nvSpPr>
        <p:spPr>
          <a:xfrm>
            <a:off x="6355080" y="23317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down: A, B, C</a:t>
            </a:r>
            <a:endParaRPr lang="en-US" sz="1350" dirty="0"/>
          </a:p>
        </p:txBody>
      </p:sp>
      <p:sp>
        <p:nvSpPr>
          <p:cNvPr id="107" name="Text 105"/>
          <p:cNvSpPr txBox="1"/>
          <p:nvPr/>
        </p:nvSpPr>
        <p:spPr>
          <a:xfrm>
            <a:off x="6355080" y="2743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box, e.g. B5</a:t>
            </a:r>
            <a:endParaRPr lang="en-US" sz="1350" dirty="0"/>
          </a:p>
        </p:txBody>
      </p:sp>
      <p:sp>
        <p:nvSpPr>
          <p:cNvPr id="108" name="Text 106"/>
          <p:cNvSpPr txBox="1"/>
          <p:nvPr/>
        </p:nvSpPr>
        <p:spPr>
          <a:xfrm>
            <a:off x="6355080" y="31546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cells, e.g. A1:D10</a:t>
            </a:r>
            <a:endParaRPr lang="en-US" sz="1350" dirty="0"/>
          </a:p>
        </p:txBody>
      </p:sp>
      <p:sp>
        <p:nvSpPr>
          <p:cNvPr id="109" name="Text 107"/>
          <p:cNvSpPr txBox="1"/>
          <p:nvPr/>
        </p:nvSpPr>
        <p:spPr>
          <a:xfrm>
            <a:off x="6355080" y="3566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commands</a:t>
            </a:r>
            <a:endParaRPr lang="en-US" sz="1350" dirty="0"/>
          </a:p>
        </p:txBody>
      </p:sp>
      <p:sp>
        <p:nvSpPr>
          <p:cNvPr id="110" name="Text 108"/>
          <p:cNvSpPr txBox="1"/>
          <p:nvPr/>
        </p:nvSpPr>
        <p:spPr>
          <a:xfrm>
            <a:off x="6355080" y="39776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35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bar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5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cell’s contents</a:t>
            </a:r>
            <a:endParaRPr lang="en-US" sz="1350" dirty="0"/>
          </a:p>
        </p:txBody>
      </p:sp>
      <p:sp>
        <p:nvSpPr>
          <p:cNvPr id="111" name="Shape 109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Excel and find all eight parts.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 |  QUICK CHECK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quick check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say B7, what am I referring to?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65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workbook and a worksheet?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43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A1:D10?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find formatting, charts and formulas?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one sentence, as a class.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 |  HOW IT CONNECTS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Git, Excel and analytics connect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548640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06040" cy="548640"/>
          </a:xfrm>
          <a:prstGeom prst="rect">
            <a:avLst/>
          </a:prstGeom>
          <a:solidFill>
            <a:srgbClr val="111517"/>
          </a:solidFill>
          <a:ln w="12700">
            <a:solidFill>
              <a:srgbClr val="1115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3774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9718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35040" y="1188720"/>
            <a:ext cx="2606040" cy="548640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3774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29718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3200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different, but the goal is the same: solve problems with data and communicate your work effectively.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0B6B6F"/>
          </a:solidFill>
          <a:ln w="12700">
            <a:solidFill>
              <a:srgbClr val="0B6B6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use each one in your first project?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 |  RECAP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learned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version control?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GitHub?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account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Git commands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pull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54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workspace basics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took your first step toward working like a modern data professional.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solidFill>
            <a:srgbClr val="14A8A3"/>
          </a:solidFill>
          <a:ln w="12700">
            <a:solidFill>
              <a:srgbClr val="14A8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526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What surprised you most today?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Git, GitHub &amp; Excel Orientation</dc:title>
  <dc:subject>PptxGenJS Presentation</dc:subject>
  <dc:creator>Shubham Sharma</dc:creator>
  <cp:lastModifiedBy>Shubham Sharma</cp:lastModifiedBy>
  <cp:revision>1</cp:revision>
  <dcterms:created xsi:type="dcterms:W3CDTF">2026-10-05T03:30:21Z</dcterms:created>
  <dcterms:modified xsi:type="dcterms:W3CDTF">2026-10-05T03:30:21Z</dcterms:modified>
</cp:coreProperties>
</file>